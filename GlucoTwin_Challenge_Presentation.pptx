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GlucoTwin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65A69"/>
                </a:solidFill>
              </a:defRPr>
            </a:pPr>
            <a:r>
              <a:t>Static health profile + dynamic sensor stream → updated patient state → risk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Digital Twin proof of concept for short-horizon glucose-excursion risk</a:t>
            </a:r>
          </a:p>
          <a:p>
            <a:pPr>
              <a:spcAft>
                <a:spcPts val="1400"/>
              </a:spcAft>
              <a:defRPr sz="2000"/>
            </a:pPr>
            <a:r>
              <a:t>Team: GlucoTwin | Team leader: [ADD NAME]</a:t>
            </a:r>
          </a:p>
          <a:p>
            <a:pPr>
              <a:spcAft>
                <a:spcPts val="1400"/>
              </a:spcAft>
              <a:defRPr sz="2000"/>
            </a:pPr>
            <a:r>
              <a:t>Institution/incubator: [ADD INSTITUTION]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Problem &amp;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Chronic conditions require context across history and changing measurements.</a:t>
            </a:r>
          </a:p>
          <a:p>
            <a:pPr>
              <a:spcAft>
                <a:spcPts val="1400"/>
              </a:spcAft>
              <a:defRPr sz="2000"/>
            </a:pPr>
            <a:r>
              <a:t>This prototype explores a defined two-hour prediction target using a simulated patient stream.</a:t>
            </a:r>
          </a:p>
          <a:p>
            <a:pPr>
              <a:spcAft>
                <a:spcPts val="1400"/>
              </a:spcAft>
              <a:defRPr sz="2000"/>
            </a:pPr>
            <a:r>
              <a:t>Target: future maximum synthetic glucose ≥ 180 mg/dL within two hours; an illustrative engineering label, not a clinical emergency definition.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Why a Digital Twin?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A single static risk score does not show how a patient's state evolves.</a:t>
            </a:r>
          </a:p>
          <a:p>
            <a:pPr>
              <a:spcAft>
                <a:spcPts val="1400"/>
              </a:spcAft>
              <a:defRPr sz="2000"/>
            </a:pPr>
            <a:r>
              <a:t>The prototype replays incoming measurements and recomputes the patient's feature state.</a:t>
            </a:r>
          </a:p>
          <a:p>
            <a:pPr>
              <a:spcAft>
                <a:spcPts val="1400"/>
              </a:spcAft>
              <a:defRPr sz="2000"/>
            </a:pPr>
            <a:r>
              <a:t>The dashboard makes history, recent trends, estimate and data limitations visible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Two Data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Static: age, BMI, HbA1c, years since diagnosis, medication-recorded flag.</a:t>
            </a:r>
          </a:p>
          <a:p>
            <a:pPr>
              <a:spcAft>
                <a:spcPts val="1400"/>
              </a:spcAft>
              <a:defRPr sz="2000"/>
            </a:pPr>
            <a:r>
              <a:t>Dynamic: glucose, steps, heart rate, sleep proxy and simulated meal input.</a:t>
            </a:r>
          </a:p>
          <a:p>
            <a:pPr>
              <a:spcAft>
                <a:spcPts val="1400"/>
              </a:spcAft>
              <a:defRPr sz="2000"/>
            </a:pPr>
            <a:r>
              <a:t>Both streams are generated synthetically and linked by synthetic patient ID.</a:t>
            </a:r>
          </a:p>
          <a:p>
            <a:pPr>
              <a:spcAft>
                <a:spcPts val="1400"/>
              </a:spcAft>
              <a:defRPr sz="2000"/>
            </a:pPr>
            <a:r>
              <a:t>No real patient records are included in the default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Data generation → patient ID join → past-window features.</a:t>
            </a:r>
          </a:p>
          <a:p>
            <a:pPr>
              <a:spcAft>
                <a:spcPts val="1400"/>
              </a:spcAft>
              <a:defRPr sz="2000"/>
            </a:pPr>
            <a:r>
              <a:t>Patient-level train/test split → logistic regression model + simple heuristic comparator.</a:t>
            </a:r>
          </a:p>
          <a:p>
            <a:pPr>
              <a:spcAft>
                <a:spcPts val="1400"/>
              </a:spcAft>
              <a:defRPr sz="2000"/>
            </a:pPr>
            <a:r>
              <a:t>State updater → Streamlit dashboard and time-series replay.</a:t>
            </a:r>
          </a:p>
          <a:p>
            <a:pPr>
              <a:spcAft>
                <a:spcPts val="1400"/>
              </a:spcAft>
              <a:defRPr sz="2000"/>
            </a:pPr>
            <a:r>
              <a:t>See docs/architecture_diagram.pdf for the architecture diagram.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AI/ML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Features summarize the latest value, recent mean/variability/slope, activity, heart rate, simulated meal input and baseline profile.</a:t>
            </a:r>
          </a:p>
          <a:p>
            <a:pPr>
              <a:spcAft>
                <a:spcPts val="1400"/>
              </a:spcAft>
              <a:defRPr sz="2000"/>
            </a:pPr>
            <a:r>
              <a:t>Logistic regression is a transparent baseline with median imputation and scaling.</a:t>
            </a:r>
          </a:p>
          <a:p>
            <a:pPr>
              <a:spcAft>
                <a:spcPts val="1400"/>
              </a:spcAft>
              <a:defRPr sz="2000"/>
            </a:pPr>
            <a:r>
              <a:t>Patient-level splitting reduces leakage from overlapping windows belonging to the same person.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Report ROC-AUC, precision, recall, F1 and Brier score where defined.</a:t>
            </a:r>
          </a:p>
          <a:p>
            <a:pPr>
              <a:spcAft>
                <a:spcPts val="1400"/>
              </a:spcAft>
              <a:defRPr sz="2000"/>
            </a:pPr>
            <a:r>
              <a:t>Compare the model with a transparent heuristic comparator.</a:t>
            </a:r>
          </a:p>
          <a:p>
            <a:pPr>
              <a:spcAft>
                <a:spcPts val="1400"/>
              </a:spcAft>
              <a:defRPr sz="2000"/>
            </a:pPr>
            <a:r>
              <a:t>Current results are synthetic pipeline checks only—not clinical accuracy estimates.</a:t>
            </a:r>
          </a:p>
          <a:p>
            <a:pPr>
              <a:spcAft>
                <a:spcPts val="1400"/>
              </a:spcAft>
              <a:defRPr sz="2000"/>
            </a:pPr>
            <a:r>
              <a:t>Future work: open-data integration, external validation, calibration and subgroup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Select a synthetic patient.</a:t>
            </a:r>
          </a:p>
          <a:p>
            <a:pPr>
              <a:spcAft>
                <a:spcPts val="1400"/>
              </a:spcAft>
              <a:defRPr sz="2000"/>
            </a:pPr>
            <a:r>
              <a:t>Inspect profile and dynamic glucose timeline.</a:t>
            </a:r>
          </a:p>
          <a:p>
            <a:pPr>
              <a:spcAft>
                <a:spcPts val="1400"/>
              </a:spcAft>
              <a:defRPr sz="2000"/>
            </a:pPr>
            <a:r>
              <a:t>Move the replay slider to update the patient state and model estimate.</a:t>
            </a:r>
          </a:p>
          <a:p>
            <a:pPr>
              <a:spcAft>
                <a:spcPts val="1400"/>
              </a:spcAft>
              <a:defRPr sz="2000"/>
            </a:pPr>
            <a:r>
              <a:t>Review supporting signals and recent readings.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The generator is not a validated physiological simulator.</a:t>
            </a:r>
          </a:p>
          <a:p>
            <a:pPr>
              <a:spcAft>
                <a:spcPts val="1400"/>
              </a:spcAft>
              <a:defRPr sz="2000"/>
            </a:pPr>
            <a:r>
              <a:t>No diagnosis, treatment advice or real-world clinical benefit is claimed.</a:t>
            </a:r>
          </a:p>
          <a:p>
            <a:pPr>
              <a:spcAft>
                <a:spcPts val="1400"/>
              </a:spcAft>
              <a:defRPr sz="2000"/>
            </a:pPr>
            <a:r>
              <a:t>Clinical use would require licensed data, clinical review, independent validation and robust safety assessment.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Roadmap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Integrate a suitable licensed open-source time-series dataset and document provenance.</a:t>
            </a:r>
          </a:p>
          <a:p>
            <a:pPr>
              <a:spcAft>
                <a:spcPts val="1400"/>
              </a:spcAft>
              <a:defRPr sz="2000"/>
            </a:pPr>
            <a:r>
              <a:t>Strengthen data validation and missingness handling.</a:t>
            </a:r>
          </a:p>
          <a:p>
            <a:pPr>
              <a:spcAft>
                <a:spcPts val="1400"/>
              </a:spcAft>
              <a:defRPr sz="2000"/>
            </a:pPr>
            <a:r>
              <a:t>Benchmark on held-out patients and report actual results honestly.</a:t>
            </a:r>
          </a:p>
          <a:p>
            <a:pPr>
              <a:spcAft>
                <a:spcPts val="1400"/>
              </a:spcAft>
              <a:defRPr sz="2000"/>
            </a:pPr>
            <a:r>
              <a:t>GlucoTwin demonstrates the software pattern for combining historical context with a changing sensor stream.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</a:defRPr>
            </a:pPr>
            <a:r>
              <a:t>References &amp; Submission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Synthea: https://synthetichealth.github.io/synthea/</a:t>
            </a:r>
          </a:p>
          <a:p>
            <a:pPr>
              <a:spcAft>
                <a:spcPts val="1400"/>
              </a:spcAft>
              <a:defRPr sz="2000"/>
            </a:pPr>
            <a:r>
              <a:t>PhysioNet dataset index: https://physionet.org/data/</a:t>
            </a:r>
          </a:p>
          <a:p>
            <a:pPr>
              <a:spcAft>
                <a:spcPts val="1400"/>
              </a:spcAft>
              <a:defRPr sz="2000"/>
            </a:pPr>
            <a:r>
              <a:t>GlucoBench dataset/benchmark repository: https://github.com/IrinaStatsLab/GlucoBench</a:t>
            </a:r>
          </a:p>
          <a:p>
            <a:pPr>
              <a:spcAft>
                <a:spcPts val="1400"/>
              </a:spcAft>
              <a:defRPr sz="2000"/>
            </a:pPr>
            <a:r>
              <a:t>Before submission: fill in team/institution details, verify deadline, run tests, publish public GitHub repo, and record the required 20-minute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